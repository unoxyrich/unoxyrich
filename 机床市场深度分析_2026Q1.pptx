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09728" cy="3474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B4D8"/>
                </a:solidFill>
              </a:rPr>
              <a:t>爆单·缺货·涨价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三大驱动因素深度总结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BEC5"/>
                </a:solidFill>
              </a:rPr>
              <a:t>为何 2026 年一季度机床市场异常火热？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337560"/>
            <a:ext cx="11338560" cy="13716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356616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93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报告日期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3075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2026年5月13日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3474720"/>
            <a:ext cx="356616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19" y="3493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报告性质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373075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行业深度分析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474720"/>
            <a:ext cx="356616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493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核心关键词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73075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AI赋能 · 共振复苏 · 国产替代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480560"/>
            <a:ext cx="11338560" cy="1645920"/>
          </a:xfrm>
          <a:prstGeom prst="rect">
            <a:avLst/>
          </a:prstGeom>
          <a:solidFill>
            <a:srgbClr val="053A5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26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【核心观点】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920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2026年一季度，中国机床行业结束自2023年以来的筑底期，迎来景气度明显拐点。市场呈现【爆单、缺货、涨价】罕见火热局面，核心驱动力为：AI产业链强力拉动、多下游需求共振复苏，以及供应链短缺催化的国产替代加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目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68680"/>
            <a:ext cx="1133856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82296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418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市场现状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4416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爆单·缺货·涨价三重信号详解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20239"/>
            <a:ext cx="1133856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920239"/>
            <a:ext cx="822960" cy="914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48839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9339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驱动因素一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95727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AI产业链——最强增量引擎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71800"/>
            <a:ext cx="1133856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971800"/>
            <a:ext cx="822960" cy="9144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2004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449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驱动因素二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4728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传统下游共振——坚实底盘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023359"/>
            <a:ext cx="1133856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023359"/>
            <a:ext cx="822960" cy="9144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251959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9651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驱动因素三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498847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供应链重塑——国产替代加速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074920"/>
            <a:ext cx="1133856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5074920"/>
            <a:ext cx="82296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3035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148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行业展望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55040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景气周期研判与投资建议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64008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市场现状：三重信号同步亮起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65960"/>
            <a:ext cx="3703320" cy="4480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965960"/>
            <a:ext cx="370332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</a:rPr>
              <a:t>📦  爆  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▸  乔锋智能Q1净利润同比 +41.98%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▸  纽威数控Q1营收同比 +25.04%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▸  纽威4月单月订单 &gt;4亿元（历史新高）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▸  日本机床对华订单同比 +57% / +40%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▸  头部产线排产趋满，交期明显延长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965960"/>
            <a:ext cx="3703320" cy="4480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965960"/>
            <a:ext cx="3703320" cy="5486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99339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</a:rPr>
              <a:t>⚡  缺  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60604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▸  发那科、三菱数控系统交期大幅延长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▸  部分型号已出现断供情况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▸  丝杠、导轨等传动件同步紧张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▸  AI服务器芯片争夺挤压电子元件产能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▸  上游PCB及伺服电机供应受限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5" y="1965960"/>
            <a:ext cx="3703320" cy="4480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5" y="1965960"/>
            <a:ext cx="3703320" cy="5486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5" y="199339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</a:rPr>
              <a:t>📈  涨  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5" y="260604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▸  铜、铝、塑料等原材料成本上升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▸  供不应求市场格局推动价格走强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▸  日本高端机床率先进入涨价通道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▸  工控产品整机价格上调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▸  行业景气度提升强化乐观预期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64008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爆单详解：关键数据一览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274320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27432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9339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</a:rPr>
              <a:t>+41.98%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乔锋智能 Q1
归母净利润同比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920240"/>
            <a:ext cx="274320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920240"/>
            <a:ext cx="274320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99339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D6A0"/>
                </a:solidFill>
              </a:rPr>
              <a:t>+25.04%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606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纽威数控 Q1
营收同比增速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1920240"/>
            <a:ext cx="274320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0216" y="1920240"/>
            <a:ext cx="2743200" cy="7315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99339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A500"/>
                </a:solidFill>
              </a:rPr>
              <a:t>&gt;4亿元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606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纽威4月单月订单
（历史新高）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44584" y="1920240"/>
            <a:ext cx="274320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44584" y="1920240"/>
            <a:ext cx="2743200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99339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F476F"/>
                </a:solidFill>
              </a:rPr>
              <a:t>+45%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2606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纽威4月订单
同比增速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474720"/>
            <a:ext cx="539496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547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🗾  日本机床对华订单（先行指标）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023360"/>
            <a:ext cx="5212080" cy="502920"/>
          </a:xfrm>
          <a:prstGeom prst="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0965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2026年1月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0690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</a:rPr>
              <a:t>+57%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同比激增，创近年新高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617720"/>
            <a:ext cx="5212080" cy="502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6908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2026年2月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66344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</a:rPr>
              <a:t>+40%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709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延续强劲增长态势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12080"/>
            <a:ext cx="5212080" cy="502920"/>
          </a:xfrm>
          <a:prstGeom prst="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2852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2026年3月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2578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</a:rPr>
              <a:t>历史新高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日本机床整体订单额创历史纪录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3474720"/>
            <a:ext cx="580644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35478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🏭  产线排产情况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005072"/>
            <a:ext cx="5440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▸  头部厂商产线排产趋满，高端机型交付周期延长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▸  广东东莞某企业五轴联动数控机床订单已排至9月份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▸  多家企业反馈在手订单充沛，交货周期大幅拉长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FFFFF"/>
                </a:solidFill>
              </a:rPr>
              <a:t>▸  部分企业出现供不应求、无法即时交货状态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64008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64008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驱动因素一：AI产业链——最强增量引擎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5669280" cy="4526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56692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</a:rPr>
              <a:t>🌡️  AI液冷系统需求爆发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FFFFFF"/>
                </a:solidFill>
              </a:rPr>
              <a:t>▸  AI算力爆发使液冷从【可选】变【刚需】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FFFFFF"/>
                </a:solidFill>
              </a:rPr>
              <a:t>▸  液冷接头（UQD）、液冷板、液冷泵体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FFFFFF"/>
                </a:solidFill>
              </a:rPr>
              <a:t>▸  要求极高加工精度、密封性与表面粗糙度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FFFFFF"/>
                </a:solidFill>
              </a:rPr>
              <a:t>▸  直接拉动走心机、数控车床、车铣复合加工中心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FFFFFF"/>
                </a:solidFill>
              </a:rPr>
              <a:t>▸  高精度磨床采购量大幅增长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FFFFFF"/>
                </a:solidFill>
              </a:rPr>
              <a:t>▸  2026年Q1液冷订单接近2025全年水平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5669280" cy="4526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5669280" cy="5943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3852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</a:rPr>
              <a:t>🤖  人形机器人产业化加速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FFFFFF"/>
                </a:solidFill>
              </a:rPr>
              <a:t>▸  产业化进程全面加速，量产节点临近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FFFFFF"/>
                </a:solidFill>
              </a:rPr>
              <a:t>▸  精密减速器、结构件加工需求爆发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FFFFFF"/>
                </a:solidFill>
              </a:rPr>
              <a:t>▸  大幅拉动齿轮加工机床需求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FFFFFF"/>
                </a:solidFill>
              </a:rPr>
              <a:t>▸  五轴联动数控机床成核心设备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FFFFFF"/>
                </a:solidFill>
              </a:rPr>
              <a:t>▸  特斯拉等头部企业量产带来持续增量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FFFFFF"/>
                </a:solidFill>
              </a:rPr>
              <a:t>▸  高价值、长周期的确定性需求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solidFill>
            <a:srgbClr val="05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AI是本轮机床需求爆发的最大增量，已成为不可逆的结构性驱动力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64008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64008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驱动因素二：传统下游共振——坚实底盘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5669280" cy="2148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502920" cy="21488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6060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船舶制造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2316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Q1新接订单量同比暴增 +195%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手持订单量同比增长 +44%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为大型龙门、重型卧式加工中心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带来中长期确定性需求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5669280" cy="2148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502920" cy="2148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6060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✈️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0116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航空航天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42316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持续拉动高端五轴加工中心需求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军机、商飞双线景气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精密结构件加工要求极高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国产替代力度持续加大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51960"/>
            <a:ext cx="5669280" cy="2148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251960"/>
            <a:ext cx="502920" cy="21488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9377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34340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消费电子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75488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AI手机、折叠屏、AR/VR新品周期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消费电子整体回暖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拉动钻攻机、精雕机需求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小型精密机床迎换机潮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251960"/>
            <a:ext cx="5669280" cy="2148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4251960"/>
            <a:ext cx="502920" cy="21488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9377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34340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76F"/>
                </a:solidFill>
              </a:rPr>
              <a:t>半导体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75488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半导体国产替代持续推进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先进制程扩产拉动设备需求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精密加工设备大量引进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本土晶圆厂持续扩建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solidFill>
            <a:srgbClr val="03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多下游行业共振复苏，为机床行业景气度提供坚实底盘支撑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64008" cy="5029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64008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驱动因素三：供应链重塑——国产替代加速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5394960" cy="4526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5394960" cy="5486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568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⚡  供应链危机分析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 b="1">
                <a:solidFill>
                  <a:srgbClr val="EF476F"/>
                </a:solidFill>
              </a:rPr>
              <a:t>【触发点】</a:t>
            </a:r>
            <a:r>
              <a:rPr sz="1150">
                <a:solidFill>
                  <a:srgbClr val="FFFFFF"/>
                </a:solidFill>
              </a:rPr>
              <a:t>  AI服务器爆发抢占芯片、PCB等电子元件产能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EF476F"/>
                </a:solidFill>
              </a:rPr>
              <a:t>【传导路径】</a:t>
            </a:r>
            <a:r>
              <a:rPr sz="1150">
                <a:solidFill>
                  <a:srgbClr val="FFFFFF"/>
                </a:solidFill>
              </a:rPr>
              <a:t>  电子元件短缺 → 数控系统停产 → 机床交期延长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EF476F"/>
                </a:solidFill>
              </a:rPr>
              <a:t>【主要品牌】</a:t>
            </a:r>
            <a:r>
              <a:rPr sz="1150">
                <a:solidFill>
                  <a:srgbClr val="FFFFFF"/>
                </a:solidFill>
              </a:rPr>
              <a:t>  发那科、三菱等日系品牌交期大幅延长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EF476F"/>
                </a:solidFill>
              </a:rPr>
              <a:t>【缺口规模】</a:t>
            </a:r>
            <a:r>
              <a:rPr sz="1150">
                <a:solidFill>
                  <a:srgbClr val="FFFFFF"/>
                </a:solidFill>
              </a:rPr>
              <a:t>  仅2026年日本系统缺货可释放5-10万台/年缺口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EF476F"/>
                </a:solidFill>
              </a:rPr>
              <a:t>【外部因素】</a:t>
            </a:r>
            <a:r>
              <a:rPr sz="1150">
                <a:solidFill>
                  <a:srgbClr val="FFFFFF"/>
                </a:solidFill>
              </a:rPr>
              <a:t>  欧美系厂商战略收缩，日系供给更加紧张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920240"/>
            <a:ext cx="5806440" cy="4526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920240"/>
            <a:ext cx="580644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9568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🏆  国产替代机遇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578608"/>
            <a:ext cx="5440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 b="1">
                <a:solidFill>
                  <a:srgbClr val="00B4D8"/>
                </a:solidFill>
              </a:rPr>
              <a:t>【替代窗口】</a:t>
            </a:r>
            <a:r>
              <a:rPr sz="1150">
                <a:solidFill>
                  <a:srgbClr val="FFFFFF"/>
                </a:solidFill>
              </a:rPr>
              <a:t>  外资断供倒逼客户大规模试用国产系统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B4D8"/>
                </a:solidFill>
              </a:rPr>
              <a:t>【核心受益】</a:t>
            </a:r>
            <a:r>
              <a:rPr sz="1150">
                <a:solidFill>
                  <a:srgbClr val="FFFFFF"/>
                </a:solidFill>
              </a:rPr>
              <a:t>  华中数控（数控系统）、科德数控（五轴机床）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B4D8"/>
                </a:solidFill>
              </a:rPr>
              <a:t>【不可逆性】</a:t>
            </a:r>
            <a:r>
              <a:rPr sz="1150">
                <a:solidFill>
                  <a:srgbClr val="FFFFFF"/>
                </a:solidFill>
              </a:rPr>
              <a:t>  一旦验证可靠性，国产化替代将持续深化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B4D8"/>
                </a:solidFill>
              </a:rPr>
              <a:t>【长期价值】</a:t>
            </a:r>
            <a:r>
              <a:rPr sz="1150">
                <a:solidFill>
                  <a:srgbClr val="FFFFFF"/>
                </a:solidFill>
              </a:rPr>
              <a:t>  中国机床产业加速向价值链中高端攀升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0B4D8"/>
                </a:solidFill>
              </a:rPr>
              <a:t>【政策支持】</a:t>
            </a:r>
            <a:r>
              <a:rPr sz="1150">
                <a:solidFill>
                  <a:srgbClr val="FFFFFF"/>
                </a:solidFill>
              </a:rPr>
              <a:t>  【工业母机】战略定位 + 【两新】政策资金支持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solidFill>
            <a:srgbClr val="3A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76F"/>
                </a:solidFill>
              </a:rPr>
              <a:t>外部压力转化为国内机遇——这是机床国产替代历程中最重要的一次战略窗口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64008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行业展望：景气周期研判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11338560" cy="1325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594360" cy="1325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2402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11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周期与结构共振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23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传统顺周期复苏 + AI新质生产力驱动的结构性行情叠加，持续性与强度有望超越上轮（2020-2023年）新能源周期。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83280"/>
            <a:ext cx="11338560" cy="1325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383280"/>
            <a:ext cx="594360" cy="1325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703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74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政策强力支持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886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国家【工业母机】战略地位确立，【两新】政策落地为行业提供长期政策保障与资金支持。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846320"/>
            <a:ext cx="11338560" cy="1325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846320"/>
            <a:ext cx="594360" cy="13258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166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37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景气周期展望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349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2026年Q1已成重要业绩拐点，行业有望开启新一轮长达数年的增长周期，当前仍处景气初期。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64008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投资建议：关注三大方向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3703320" cy="4526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37033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整机厂商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3429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00B4D8"/>
                </a:solidFill>
              </a:rPr>
              <a:t>乔锋智能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B0BEC5"/>
                </a:solidFill>
              </a:rPr>
              <a:t>    液冷、3C、机器人高景气赛道受益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0B4D8"/>
                </a:solidFill>
              </a:rPr>
              <a:t>津上机床（中国）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B0BEC5"/>
                </a:solidFill>
              </a:rPr>
              <a:t>    液冷、精密加工领域深度布局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0B4D8"/>
                </a:solidFill>
              </a:rPr>
              <a:t>纽威数控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B0BEC5"/>
                </a:solidFill>
              </a:rPr>
              <a:t>    通用复苏，业绩明显拐点，订单创历史新高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0B4D8"/>
                </a:solidFill>
              </a:rPr>
              <a:t>海天精工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B0BEC5"/>
                </a:solidFill>
              </a:rPr>
              <a:t>    中大型加工中心，受益制造业全面复苏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0B4D8"/>
                </a:solidFill>
              </a:rPr>
              <a:t>科德数控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B0BEC5"/>
                </a:solidFill>
              </a:rPr>
              <a:t>    五轴联动，国产高端标杆，替代空间巨大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920240"/>
            <a:ext cx="3703320" cy="4526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920240"/>
            <a:ext cx="370332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93852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核心系统/部件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514600"/>
            <a:ext cx="3429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06D6A0"/>
                </a:solidFill>
              </a:rPr>
              <a:t>华中数控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B0BEC5"/>
                </a:solidFill>
              </a:rPr>
              <a:t>    数控系统国产替代龙头，最直接受益标的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6D6A0"/>
                </a:solidFill>
              </a:rPr>
              <a:t>丝杠、导轨厂商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B0BEC5"/>
                </a:solidFill>
              </a:rPr>
              <a:t>    核心传动件紧缺，涨价逻辑顺畅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6D6A0"/>
                </a:solidFill>
              </a:rPr>
              <a:t>伺服电机厂商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B0BEC5"/>
                </a:solidFill>
              </a:rPr>
              <a:t>    需求旺盛，国产化加速推进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5" y="1920240"/>
            <a:ext cx="3703320" cy="4526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5" y="1920240"/>
            <a:ext cx="370332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5" y="193852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配套耗材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2514600"/>
            <a:ext cx="3429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FFA500"/>
                </a:solidFill>
              </a:rPr>
              <a:t>华锐精密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B0BEC5"/>
                </a:solidFill>
              </a:rPr>
              <a:t>    硬质合金刀具，随行业景气弹性释放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FA500"/>
                </a:solidFill>
              </a:rPr>
              <a:t>沃尔德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B0BEC5"/>
                </a:solidFill>
              </a:rPr>
              <a:t>    高性能刀具，技术壁垒显著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FA500"/>
                </a:solidFill>
              </a:rPr>
              <a:t>欧科亿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B0BEC5"/>
                </a:solidFill>
              </a:rPr>
              <a:t>    刀具销量与利润弹性有望充分释放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⚠️  以上内容仅供参考，不构成投资建议。投资有风险，入市需谨慎。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总  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38560" cy="13716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6576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36576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98448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🤖
AI算力
基础设施建设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液冷系统与人形机器人催生持续高价值增量需求，替代传统新能源成为最大驱动力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7" y="1188720"/>
            <a:ext cx="36576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7" y="1188720"/>
            <a:ext cx="365760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1298448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D6A0"/>
                </a:solidFill>
              </a:rPr>
              <a:t>🏭
制造业
全面复苏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7" y="26060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船舶、航空、消费电子、半导体多行业共振，传统基本盘全面筑底反转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11896" y="1188720"/>
            <a:ext cx="36576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11896" y="1188720"/>
            <a:ext cx="365760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298448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A500"/>
                </a:solidFill>
              </a:rPr>
              <a:t>🇨🇳
供应链
自主可控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6060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外资断供危机转化为国产替代战略机遇，不可逆的国产化进程正式提速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800600"/>
            <a:ext cx="11338560" cy="1417320"/>
          </a:xfrm>
          <a:prstGeom prst="rect">
            <a:avLst/>
          </a:prstGeom>
          <a:solidFill>
            <a:srgbClr val="053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86460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【核心结论】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30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当前机床行业的火热并非短期脉冲，而是 AI算力基础设施建设、制造业全面复苏、供应链自主可控 三大趋势共同推动的结构性机遇。
2026年一季度已成重要业绩拐点，行业有望开启新一轮长达数年的增长周期。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3550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报告日期：2026年5月13日  ·  数据来源：公司公告、行业研究、媒体报道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